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118872"/>
            <a:ext cx="228600" cy="673912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0C8D8"/>
                </a:solidFill>
                <a:latin typeface="Calibri"/>
              </a:rPr>
              <a:t>Digital Signal Processing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9738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 dirty="0" err="1">
                <a:solidFill>
                  <a:srgbClr val="FFFFFF"/>
                </a:solidFill>
                <a:latin typeface="Calibri"/>
              </a:rPr>
              <a:t>Thiết</a:t>
            </a:r>
            <a:r>
              <a:rPr sz="40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4000" b="1" i="0" dirty="0" err="1">
                <a:solidFill>
                  <a:srgbClr val="FFFFFF"/>
                </a:solidFill>
                <a:latin typeface="Calibri"/>
              </a:rPr>
              <a:t>Kế</a:t>
            </a:r>
            <a:r>
              <a:rPr sz="40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4000" b="1" i="0" dirty="0" err="1">
                <a:solidFill>
                  <a:srgbClr val="FFFFFF"/>
                </a:solidFill>
                <a:latin typeface="Calibri"/>
              </a:rPr>
              <a:t>Bộ</a:t>
            </a:r>
            <a:r>
              <a:rPr sz="40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4000" b="1" i="0" dirty="0" err="1">
                <a:solidFill>
                  <a:srgbClr val="FFFFFF"/>
                </a:solidFill>
                <a:latin typeface="Calibri"/>
              </a:rPr>
              <a:t>Cân</a:t>
            </a:r>
            <a:r>
              <a:rPr sz="40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4000" b="1" i="0" dirty="0" err="1">
                <a:solidFill>
                  <a:srgbClr val="FFFFFF"/>
                </a:solidFill>
                <a:latin typeface="Calibri"/>
              </a:rPr>
              <a:t>Bằng</a:t>
            </a:r>
            <a:r>
              <a:rPr sz="40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4000" b="1" i="0" dirty="0" err="1">
                <a:solidFill>
                  <a:srgbClr val="FFFFFF"/>
                </a:solidFill>
                <a:latin typeface="Calibri"/>
              </a:rPr>
              <a:t>Số</a:t>
            </a:r>
            <a:r>
              <a:rPr sz="4000" b="1" i="0" dirty="0">
                <a:solidFill>
                  <a:srgbClr val="FFFFFF"/>
                </a:solidFill>
                <a:latin typeface="Calibri"/>
              </a:rPr>
              <a:t>
&amp; </a:t>
            </a:r>
            <a:r>
              <a:rPr sz="4000" b="1" i="0" dirty="0" err="1">
                <a:solidFill>
                  <a:srgbClr val="FFFFFF"/>
                </a:solidFill>
                <a:latin typeface="Calibri"/>
              </a:rPr>
              <a:t>Phân</a:t>
            </a:r>
            <a:r>
              <a:rPr sz="40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4000" b="1" i="0" dirty="0" err="1">
                <a:solidFill>
                  <a:srgbClr val="FFFFFF"/>
                </a:solidFill>
                <a:latin typeface="Calibri"/>
              </a:rPr>
              <a:t>Loại</a:t>
            </a:r>
            <a:r>
              <a:rPr sz="40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4000" b="1" i="0" dirty="0" err="1">
                <a:solidFill>
                  <a:srgbClr val="FFFFFF"/>
                </a:solidFill>
                <a:latin typeface="Calibri"/>
              </a:rPr>
              <a:t>Dòng</a:t>
            </a:r>
            <a:r>
              <a:rPr sz="40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4000" b="1" i="0" dirty="0" err="1">
                <a:solidFill>
                  <a:srgbClr val="FFFFFF"/>
                </a:solidFill>
                <a:latin typeface="Calibri"/>
              </a:rPr>
              <a:t>Nhạc</a:t>
            </a:r>
            <a:endParaRPr sz="40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02920" y="3429000"/>
            <a:ext cx="6858000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356616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0D4FF"/>
                </a:solidFill>
                <a:latin typeface="Calibri"/>
              </a:rPr>
              <a:t>FIR Graphic Equalizer  ·  10 Bands  ·  Hamming Window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977639"/>
            <a:ext cx="8686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 dirty="0">
                <a:solidFill>
                  <a:srgbClr val="B0C8D8"/>
                </a:solidFill>
                <a:latin typeface="Calibri"/>
              </a:rPr>
              <a:t>MFCC + SVM / Random Forest  ·  GTZAN Dataset  ·  10 Genres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53796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C8D8"/>
                </a:solidFill>
                <a:latin typeface="Calibri"/>
              </a:rPr>
              <a:t>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77240"/>
            <a:ext cx="2743200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892040" cy="749808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66928" y="112471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D4FF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216152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Giới thiệu &amp; Định hướng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0" y="1051560"/>
            <a:ext cx="4892040" cy="749808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596128" y="112471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D4FF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1216152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Cơ sở lý thuyết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965960"/>
            <a:ext cx="4892040" cy="749808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66928" y="203911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D4FF"/>
                </a:solidFill>
                <a:latin typeface="Calibr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130552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Thiết kế hệ thống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0" y="1965960"/>
            <a:ext cx="4892040" cy="749808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596128" y="203911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D4FF"/>
                </a:solidFill>
                <a:latin typeface="Calibri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2130552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MFCC &amp; Machine Learning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880360"/>
            <a:ext cx="4892040" cy="749808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66928" y="295351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D4FF"/>
                </a:solidFill>
                <a:latin typeface="Calibri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3044952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Kết quả Equalizer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0" y="2880360"/>
            <a:ext cx="4892040" cy="749808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596128" y="295351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D4FF"/>
                </a:solidFill>
                <a:latin typeface="Calibri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3044952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Kết quả ML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794760"/>
            <a:ext cx="4892040" cy="749808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66928" y="3867912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D4FF"/>
                </a:solidFill>
                <a:latin typeface="Calibri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" y="3959352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Demo &amp; Kết luận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653796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C8D8"/>
                </a:solidFill>
                <a:latin typeface="Calibri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201168"/>
            <a:ext cx="1645920" cy="256032"/>
          </a:xfrm>
          <a:prstGeom prst="rect">
            <a:avLst/>
          </a:prstGeom>
          <a:solidFill>
            <a:srgbClr val="7B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20116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01  GIỚI THIỆU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Lựa Chọn &amp; Định Hướng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4572000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5303520" cy="2286000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37160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alibri"/>
              </a:rPr>
              <a:t>Tại sao chọn FIR?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2880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✔  Ổn định vô điều kiện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4028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✔  Pha tuyến tính — không méo sóng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5176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✔  Dễ thiết kế &amp; phân tích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6324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✔  Phương pháp cửa sổ Hamming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280160"/>
            <a:ext cx="5303520" cy="2286000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55080" y="137160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B2FFF"/>
                </a:solidFill>
                <a:latin typeface="Calibri"/>
              </a:rPr>
              <a:t>Tại sao Jupyter + Streamlit?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82880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✔  Phù hợp trình bày học thuật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24028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✔  Tích hợp code + kết quả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65176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✔  Dễ test &amp; demo trực tiếp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063240"/>
            <a:ext cx="4937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✔  Streamlit: Web App deployment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749039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D4FF"/>
                </a:solidFill>
                <a:latin typeface="Calibri"/>
              </a:rPr>
              <a:t>Chỉ Tiêu Kỹ Thuật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206240"/>
            <a:ext cx="3657600" cy="658368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66928" y="425196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Equalizer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52628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D8"/>
                </a:solidFill>
                <a:latin typeface="Calibri"/>
              </a:rPr>
              <a:t>10 bands · 20 Hz–20 kHz · Gain ±12 dB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80" y="4206240"/>
            <a:ext cx="3657600" cy="658368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407408" y="425196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ML Classification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07408" y="452628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D8"/>
                </a:solidFill>
                <a:latin typeface="Calibri"/>
              </a:rPr>
              <a:t>10 genres · GTZAN · SVM &amp; Random Forest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60" y="4206240"/>
            <a:ext cx="3657600" cy="658368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47888" y="425196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Platform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7888" y="452628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D8"/>
                </a:solidFill>
                <a:latin typeface="Calibri"/>
              </a:rPr>
              <a:t>Python 3.10+ · .wav · File-based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0" y="653796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C8D8"/>
                </a:solidFill>
                <a:latin typeface="Calibri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201168"/>
            <a:ext cx="1645920" cy="256032"/>
          </a:xfrm>
          <a:prstGeom prst="rect">
            <a:avLst/>
          </a:prstGeom>
          <a:solidFill>
            <a:srgbClr val="7B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20116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02  LÝ THUYẾT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Tín Hiệu Số &amp; Lấy Mẫu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5029200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5394960" cy="1828800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64592" cy="1828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1453896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  <a:latin typeface="Calibri"/>
              </a:rPr>
              <a:t>Nyquist-Shannon Theorem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56232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f_s ≥ 2 × f_max
Audio: f_s = 44,100 Hz → dải tần 0–22,050 Hz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325880"/>
            <a:ext cx="5394960" cy="1828800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26480" y="1325880"/>
            <a:ext cx="164592" cy="1828800"/>
          </a:xfrm>
          <a:prstGeom prst="rect">
            <a:avLst/>
          </a:prstGeom>
          <a:solidFill>
            <a:srgbClr val="7B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1453896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B2FFF"/>
                </a:solidFill>
                <a:latin typeface="Calibri"/>
              </a:rPr>
              <a:t>Sampling Period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856232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T_s = 1/f_s ≈ 22.7 μs
resolution 16-bit: [-32768, 32767]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337560"/>
            <a:ext cx="5394960" cy="1828800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3337560"/>
            <a:ext cx="164592" cy="1828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3465576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  <a:latin typeface="Calibri"/>
              </a:rPr>
              <a:t>FIR Difference Equation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867912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y[n] = Σ (k=0→M)  bₖ · x[n−k]
No feedback → unconditionally stable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3337560"/>
            <a:ext cx="5394960" cy="1828800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26480" y="3337560"/>
            <a:ext cx="164592" cy="1828800"/>
          </a:xfrm>
          <a:prstGeom prst="rect">
            <a:avLst/>
          </a:prstGeom>
          <a:solidFill>
            <a:srgbClr val="7B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0" y="3465576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B2FFF"/>
                </a:solidFill>
                <a:latin typeface="Calibri"/>
              </a:rPr>
              <a:t>Hamming Window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867912"/>
            <a:ext cx="4937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w[n] = 0.54 − 0.46·cos(2πn/M)
Reduces side-lobe vs. rectangular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53796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C8D8"/>
                </a:solidFill>
                <a:latin typeface="Calibri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201168"/>
            <a:ext cx="1645920" cy="256032"/>
          </a:xfrm>
          <a:prstGeom prst="rect">
            <a:avLst/>
          </a:prstGeom>
          <a:solidFill>
            <a:srgbClr val="7B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20116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02  LÝ THUYẾT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Bộ Lọc FIR — Thiết Kế 10 Bands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5486400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777240" cy="31089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12064" y="1316736"/>
            <a:ext cx="777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2A"/>
                </a:solidFill>
                <a:latin typeface="Calibri"/>
              </a:rPr>
              <a:t>Band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1298448"/>
            <a:ext cx="2103120" cy="31089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426464" y="1316736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2A"/>
                </a:solidFill>
                <a:latin typeface="Calibri"/>
              </a:rPr>
              <a:t>Frequency Range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0" y="1298448"/>
            <a:ext cx="2103120" cy="31089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712464" y="1316736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1B2A"/>
                </a:solidFill>
                <a:latin typeface="Calibri"/>
              </a:rPr>
              <a:t>Name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609344"/>
            <a:ext cx="5166360" cy="402336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2064" y="1645920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D4FF"/>
                </a:solidFill>
                <a:latin typeface="Calibri"/>
              </a:rPr>
              <a:t>Band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26464" y="164592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20–60 Hz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12464" y="164592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Sub-bass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029968"/>
            <a:ext cx="5166360" cy="402336"/>
          </a:xfrm>
          <a:prstGeom prst="rect">
            <a:avLst/>
          </a:prstGeom>
          <a:solidFill>
            <a:srgbClr val="1A3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2064" y="2066544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D4FF"/>
                </a:solidFill>
                <a:latin typeface="Calibri"/>
              </a:rPr>
              <a:t>Band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26464" y="206654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60–170 Hz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12464" y="206654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Bass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450592"/>
            <a:ext cx="5166360" cy="402336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12064" y="2487168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D4FF"/>
                </a:solidFill>
                <a:latin typeface="Calibri"/>
              </a:rPr>
              <a:t>Band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6464" y="248716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170–310 Hz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12464" y="248716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Upper Bass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871216"/>
            <a:ext cx="5166360" cy="402336"/>
          </a:xfrm>
          <a:prstGeom prst="rect">
            <a:avLst/>
          </a:prstGeom>
          <a:solidFill>
            <a:srgbClr val="1A3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12064" y="2907792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D4FF"/>
                </a:solidFill>
                <a:latin typeface="Calibri"/>
              </a:rPr>
              <a:t>Band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26464" y="290779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310–600 Hz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12464" y="290779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Midrange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291840"/>
            <a:ext cx="5166360" cy="402336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12064" y="3328416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D4FF"/>
                </a:solidFill>
                <a:latin typeface="Calibri"/>
              </a:rPr>
              <a:t>Band 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26464" y="332841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600–1,000 Hz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12464" y="332841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Mid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3712464"/>
            <a:ext cx="5166360" cy="402336"/>
          </a:xfrm>
          <a:prstGeom prst="rect">
            <a:avLst/>
          </a:prstGeom>
          <a:solidFill>
            <a:srgbClr val="1A3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12064" y="3749040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D4FF"/>
                </a:solidFill>
                <a:latin typeface="Calibri"/>
              </a:rPr>
              <a:t>Band 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26464" y="374904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1,000–3,000 Hz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12464" y="374904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Upper Mid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33088"/>
            <a:ext cx="5166360" cy="402336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12064" y="4169664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D4FF"/>
                </a:solidFill>
                <a:latin typeface="Calibri"/>
              </a:rPr>
              <a:t>Band 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26464" y="416966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3,000–6,000 Hz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12464" y="416966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Presence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553712"/>
            <a:ext cx="5166360" cy="402336"/>
          </a:xfrm>
          <a:prstGeom prst="rect">
            <a:avLst/>
          </a:prstGeom>
          <a:solidFill>
            <a:srgbClr val="1A3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12064" y="4590288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D4FF"/>
                </a:solidFill>
                <a:latin typeface="Calibri"/>
              </a:rPr>
              <a:t>Band 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26464" y="459028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6,000–12,000 Hz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12464" y="459028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Brilliance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4974336"/>
            <a:ext cx="5166360" cy="402336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12064" y="5010912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D4FF"/>
                </a:solidFill>
                <a:latin typeface="Calibri"/>
              </a:rPr>
              <a:t>Band 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26464" y="501091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12,000–16,000 Hz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12464" y="501091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Air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5394960"/>
            <a:ext cx="5166360" cy="402336"/>
          </a:xfrm>
          <a:prstGeom prst="rect">
            <a:avLst/>
          </a:prstGeom>
          <a:solidFill>
            <a:srgbClr val="1A3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12064" y="5431536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D4FF"/>
                </a:solidFill>
                <a:latin typeface="Calibri"/>
              </a:rPr>
              <a:t>Band 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426464" y="543153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16,000–20,000 Hz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12464" y="543153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Ultra High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0" y="1280160"/>
            <a:ext cx="5303520" cy="3200400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537960" y="1371600"/>
            <a:ext cx="5029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alibri"/>
              </a:rPr>
              <a:t>Tại sao numtaps = 1025?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37960" y="181051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•  Số tap lẻ → Type I Linear Phase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37960" y="226771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•  Nhiều tap → dải chuyển tiếp hẹp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37960" y="272491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•  Trễ = N/2 = 512 mẫu ≈ 11.6 ms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37960" y="318211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•  Cửa sổ Hamming: attenuation ~53 dB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0" y="4663440"/>
            <a:ext cx="5303520" cy="1371600"/>
          </a:xfrm>
          <a:prstGeom prst="rect">
            <a:avLst/>
          </a:prstGeom>
          <a:solidFill>
            <a:srgbClr val="081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537960" y="475488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E676"/>
                </a:solidFill>
                <a:latin typeface="Calibri"/>
              </a:rPr>
              <a:t>scipy.signal.firwin(1025, [60, 170],
  pass_zero=False,
  window='hamming', fs=44100)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789920" y="653796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C8D8"/>
                </a:solidFill>
                <a:latin typeface="Calibri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201168"/>
            <a:ext cx="1645920" cy="256032"/>
          </a:xfrm>
          <a:prstGeom prst="rect">
            <a:avLst/>
          </a:prstGeom>
          <a:solidFill>
            <a:srgbClr val="7B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20116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04 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MFCC · SVM · Random Forest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5303520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1280160" cy="685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417320"/>
            <a:ext cx="1280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1B2A"/>
                </a:solidFill>
                <a:latin typeface="Calibri"/>
              </a:rPr>
              <a:t>Audio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2496" y="1600200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D4F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1417320"/>
            <a:ext cx="1280160" cy="685800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011680" y="1417320"/>
            <a:ext cx="1280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FFT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28416" y="1600200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D4FF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0" y="1417320"/>
            <a:ext cx="1280160" cy="685800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0" y="1417320"/>
            <a:ext cx="1280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Mel
Filterbank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74336" y="1600200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D4FF"/>
                </a:solidFill>
                <a:latin typeface="Calibr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03520" y="1417320"/>
            <a:ext cx="1280160" cy="685800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303520" y="1417320"/>
            <a:ext cx="1280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log + DCT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0256" y="1600200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D4FF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0" y="1417320"/>
            <a:ext cx="1280160" cy="685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949440" y="1417320"/>
            <a:ext cx="1280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1B2A"/>
                </a:solidFill>
                <a:latin typeface="Calibri"/>
              </a:rPr>
              <a:t>MFCC
(20 coeff)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6" y="1600200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D4FF"/>
                </a:solidFill>
                <a:latin typeface="Calibr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5360" y="1417320"/>
            <a:ext cx="1280160" cy="685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595360" y="1417320"/>
            <a:ext cx="1280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1B2A"/>
                </a:solidFill>
                <a:latin typeface="Calibri"/>
              </a:rPr>
              <a:t>Mean+Std
→ 40 feat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12096" y="1600200"/>
            <a:ext cx="228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D4FF"/>
                </a:solidFill>
                <a:latin typeface="Calibr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241280" y="1417320"/>
            <a:ext cx="1280160" cy="685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241280" y="1417320"/>
            <a:ext cx="1280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1B2A"/>
                </a:solidFill>
                <a:latin typeface="Calibri"/>
              </a:rPr>
              <a:t>Model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2423160"/>
            <a:ext cx="3657600" cy="2560320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57200" y="2423160"/>
            <a:ext cx="3657600" cy="9144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6928" y="254203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  <a:latin typeface="Calibri"/>
              </a:rPr>
              <a:t>MFCC Features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2971800"/>
            <a:ext cx="3383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20 coefficients per frame
mean + std → 40-dim vector
Mimics human hearing (Mel scale)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97680" y="2423160"/>
            <a:ext cx="3657600" cy="2560320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297680" y="2423160"/>
            <a:ext cx="3657600" cy="91440"/>
          </a:xfrm>
          <a:prstGeom prst="rect">
            <a:avLst/>
          </a:prstGeom>
          <a:solidFill>
            <a:srgbClr val="7B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407408" y="254203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B2FFF"/>
                </a:solidFill>
                <a:latin typeface="Calibri"/>
              </a:rPr>
              <a:t>SVM — Kernel RBF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07408" y="2971800"/>
            <a:ext cx="3383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K(x,x') = exp(−γ||x−x'||²)
Max-margin hyperplane
Accuracy: 62.6%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38160" y="2423160"/>
            <a:ext cx="3657600" cy="2560320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8138160" y="2423160"/>
            <a:ext cx="3657600" cy="9144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247888" y="254203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896"/>
                </a:solidFill>
                <a:latin typeface="Calibri"/>
              </a:rPr>
              <a:t>Random Forest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47888" y="2971800"/>
            <a:ext cx="33832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Ensemble of Decision Trees
Majority voting → low overfitting
Accuracy: 51.6%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212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B0C8D8"/>
                </a:solidFill>
                <a:latin typeface="Calibri"/>
              </a:rPr>
              <a:t>Pipeline:  Audio  →  Feature Extraction  →  StandardScaler  →  Model  →  Prediction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89920" y="653796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C8D8"/>
                </a:solidFill>
                <a:latin typeface="Calibri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201168"/>
            <a:ext cx="1645920" cy="256032"/>
          </a:xfrm>
          <a:prstGeom prst="rect">
            <a:avLst/>
          </a:prstGeom>
          <a:solidFill>
            <a:srgbClr val="7B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20116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03  THIẾT KẾ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Sơ Đồ Hệ Thống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3657600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  <a:latin typeface="Calibri"/>
              </a:rPr>
              <a:t>Equalizer Pipeline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37360"/>
            <a:ext cx="1554480" cy="731520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7373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Load
.wav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29968" y="192024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D4FF"/>
                </a:solidFill>
                <a:latin typeface="Calibr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04288" y="1737360"/>
            <a:ext cx="1554480" cy="731520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304288" y="17373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Filter Bank
(10 FIR)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77056" y="192024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D4FF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51376" y="1737360"/>
            <a:ext cx="1554480" cy="731520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51376" y="17373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Apply Gain
(±12 dB)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24144" y="192024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D4FF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98464" y="1737360"/>
            <a:ext cx="1554480" cy="731520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98464" y="17373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Sum
Bands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71232" y="192024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D4FF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45552" y="1737360"/>
            <a:ext cx="1554480" cy="731520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845552" y="17373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Visualize
FFT/Wave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192024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D4FF"/>
                </a:solidFill>
                <a:latin typeface="Calibr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92640" y="1737360"/>
            <a:ext cx="1554480" cy="731520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692640" y="1737360"/>
            <a:ext cx="1554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Save
.wav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28346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B2FFF"/>
                </a:solidFill>
                <a:latin typeface="Calibri"/>
              </a:rPr>
              <a:t>ML Pipeline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246120"/>
            <a:ext cx="1920240" cy="731520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7200" y="324612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Load
GTZAN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95728" y="342900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B2FFF"/>
                </a:solidFill>
                <a:latin typeface="Calibri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670048" y="3246120"/>
            <a:ext cx="1920240" cy="731520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670048" y="324612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Extract
MFCC×40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08576" y="342900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B2FFF"/>
                </a:solidFill>
                <a:latin typeface="Calibri"/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882896" y="3246120"/>
            <a:ext cx="1920240" cy="731520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882896" y="324612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StandardScaler
Normalize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21424" y="342900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B2FFF"/>
                </a:solidFill>
                <a:latin typeface="Calibri"/>
              </a:rPr>
              <a:t>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95744" y="3246120"/>
            <a:ext cx="1920240" cy="731520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095744" y="324612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Train
SVM/RF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34272" y="342900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B2FFF"/>
                </a:solidFill>
                <a:latin typeface="Calibri"/>
              </a:rPr>
              <a:t>→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308592" y="3246120"/>
            <a:ext cx="1920240" cy="731520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308592" y="324612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Evaluate
Accuracy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2062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Phương Pháp Test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663440"/>
            <a:ext cx="5394960" cy="1737360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94360" y="473659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  <a:latin typeface="Calibri"/>
              </a:rPr>
              <a:t>Equalizer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" y="512064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• Sine đơn tần (per band)
• White noise (all bands)
• File nhạc thực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26480" y="4663440"/>
            <a:ext cx="5394960" cy="1737360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263640" y="473659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B2FFF"/>
                </a:solidFill>
                <a:latin typeface="Calibri"/>
              </a:rPr>
              <a:t>ML Model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63640" y="512064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• Tập test riêng biệt
• Accuracy/Precision/F1
• Confusion Matrix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789920" y="653796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C8D8"/>
                </a:solidFill>
                <a:latin typeface="Calibri"/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201168"/>
            <a:ext cx="1645920" cy="256032"/>
          </a:xfrm>
          <a:prstGeom prst="rect">
            <a:avLst/>
          </a:prstGeom>
          <a:solidFill>
            <a:srgbClr val="7B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20116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05  KẾT QUẢ EQ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Kết Quả Equalizer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4114800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frequency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25880"/>
            <a:ext cx="5577840" cy="2743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4096512"/>
            <a:ext cx="5577840" cy="347472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D4FF"/>
                </a:solidFill>
                <a:latin typeface="Calibri"/>
              </a:rPr>
              <a:t>Hình 1: Frequency Response — 10 FIR Bands</a:t>
            </a:r>
          </a:p>
        </p:txBody>
      </p:sp>
      <p:pic>
        <p:nvPicPr>
          <p:cNvPr id="10" name="Picture 9" descr="waveform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325880"/>
            <a:ext cx="5577840" cy="27432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172200" y="4096512"/>
            <a:ext cx="5577840" cy="347472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63640" y="411480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D4FF"/>
                </a:solidFill>
                <a:latin typeface="Calibri"/>
              </a:rPr>
              <a:t>Hình 2: Waveform — Trước &amp; Sau Equalizer</a:t>
            </a:r>
          </a:p>
        </p:txBody>
      </p:sp>
      <p:pic>
        <p:nvPicPr>
          <p:cNvPr id="13" name="Picture 12" descr="spectrum_compari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4526280"/>
            <a:ext cx="5577840" cy="18288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365760" y="6382512"/>
            <a:ext cx="5577840" cy="347472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640080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7B2FFF"/>
                </a:solidFill>
                <a:latin typeface="Calibri"/>
              </a:rPr>
              <a:t>Hình 3: Phổ FFT — Trước &amp; Sau Equalizer</a:t>
            </a:r>
          </a:p>
        </p:txBody>
      </p:sp>
      <p:pic>
        <p:nvPicPr>
          <p:cNvPr id="16" name="Picture 15" descr="band_energ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4526280"/>
            <a:ext cx="5577840" cy="182880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172200" y="6382512"/>
            <a:ext cx="5577840" cy="347472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640080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7B2FFF"/>
                </a:solidFill>
                <a:latin typeface="Calibri"/>
              </a:rPr>
              <a:t>Hình 4: Band Energy Distribution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53796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C8D8"/>
                </a:solidFill>
                <a:latin typeface="Calibri"/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201168"/>
            <a:ext cx="1645920" cy="256032"/>
          </a:xfrm>
          <a:prstGeom prst="rect">
            <a:avLst/>
          </a:prstGeom>
          <a:solidFill>
            <a:srgbClr val="7B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20116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06  KẾT QUẢ 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Kết Quả Machine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5029200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98448"/>
            <a:ext cx="5577840" cy="27432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4069080"/>
            <a:ext cx="5577840" cy="310896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408736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D4FF"/>
                </a:solidFill>
                <a:latin typeface="Calibri"/>
              </a:rPr>
              <a:t>Hình 5: Confusion Matrix</a:t>
            </a:r>
          </a:p>
        </p:txBody>
      </p:sp>
      <p:pic>
        <p:nvPicPr>
          <p:cNvPr id="10" name="Picture 9" descr="model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4462272"/>
            <a:ext cx="5577840" cy="20116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65760" y="6492240"/>
            <a:ext cx="5577840" cy="310896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651052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7B2FFF"/>
                </a:solidFill>
                <a:latin typeface="Calibri"/>
              </a:rPr>
              <a:t>Hình 6: Model Comparison — SVM 62.6%  vs  RF 51.6%</a:t>
            </a:r>
          </a:p>
        </p:txBody>
      </p:sp>
      <p:pic>
        <p:nvPicPr>
          <p:cNvPr id="13" name="Picture 12" descr="feature_import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298448"/>
            <a:ext cx="5577840" cy="27432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217920" y="4069080"/>
            <a:ext cx="5577840" cy="310896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09360" y="408736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D4FF"/>
                </a:solidFill>
                <a:latin typeface="Calibri"/>
              </a:rPr>
              <a:t>Hình 7: Feature Importance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4462272"/>
            <a:ext cx="5577840" cy="2331720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55080" y="4535424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Biện Luận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4937760"/>
            <a:ext cx="5303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0E676"/>
                </a:solidFill>
                <a:latin typeface="Calibri"/>
              </a:rPr>
              <a:t>• SVM &gt; RF với MFCC feature vector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5367528"/>
            <a:ext cx="5303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8D8"/>
                </a:solidFill>
                <a:latin typeface="Calibri"/>
              </a:rPr>
              <a:t>• Country / Rock — nhịp điệu tương đồng → nhầm lẫn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5797296"/>
            <a:ext cx="5303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8D8"/>
                </a:solidFill>
                <a:latin typeface="Calibri"/>
              </a:rPr>
              <a:t>• GTZAN ~1000 clips → overfitting 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6227064"/>
            <a:ext cx="5303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4D6D"/>
                </a:solidFill>
                <a:latin typeface="Calibri"/>
              </a:rPr>
              <a:t>• Cải thiện: CNN trên Mel Spectrogram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653796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C8D8"/>
                </a:solidFill>
                <a:latin typeface="Calibri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201168"/>
            <a:ext cx="1645920" cy="256032"/>
          </a:xfrm>
          <a:prstGeom prst="rect">
            <a:avLst/>
          </a:prstGeom>
          <a:solidFill>
            <a:srgbClr val="7B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20116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06  KẾT QUẢ 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ML — Phân Tích Bổ Sung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4572000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mel_spectrogr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98448"/>
            <a:ext cx="3749039" cy="42062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5532120"/>
            <a:ext cx="3749039" cy="548640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5577840"/>
            <a:ext cx="35661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D4FF"/>
                </a:solidFill>
                <a:latin typeface="Calibri"/>
              </a:rPr>
              <a:t>Hình 8: Mel Spectrograms by Genre</a:t>
            </a:r>
          </a:p>
        </p:txBody>
      </p:sp>
      <p:pic>
        <p:nvPicPr>
          <p:cNvPr id="10" name="Picture 9" descr="data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399" y="1298448"/>
            <a:ext cx="3749039" cy="42062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343399" y="5532120"/>
            <a:ext cx="3749039" cy="548640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434839" y="5577840"/>
            <a:ext cx="35661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7B2FFF"/>
                </a:solidFill>
                <a:latin typeface="Calibri"/>
              </a:rPr>
              <a:t>Hình 9: Dataset Distribution</a:t>
            </a:r>
          </a:p>
        </p:txBody>
      </p:sp>
      <p:pic>
        <p:nvPicPr>
          <p:cNvPr id="13" name="Picture 12" descr="prediction_resu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38" y="1298448"/>
            <a:ext cx="3749039" cy="420624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8321038" y="5532120"/>
            <a:ext cx="3749039" cy="548640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78" y="5577840"/>
            <a:ext cx="35661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E676"/>
                </a:solidFill>
                <a:latin typeface="Calibri"/>
              </a:rPr>
              <a:t>Hình 10: Sample Prediction Result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53796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C8D8"/>
                </a:solidFill>
                <a:latin typeface="Calibr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201168"/>
            <a:ext cx="1645920" cy="256032"/>
          </a:xfrm>
          <a:prstGeom prst="rect">
            <a:avLst/>
          </a:prstGeom>
          <a:solidFill>
            <a:srgbClr val="7B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20116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07  ĐÁNH GIÁ - HẠN CHẾ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Đánh Giá &amp; Hạn Chế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4114800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5486400" cy="4389120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64592" cy="438912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" y="141732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E676"/>
                </a:solidFill>
                <a:latin typeface="Calibri"/>
              </a:rPr>
              <a:t>✅  Đạt Được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828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• Thiết kế thành công bộ FIR 10-band (Hamming, numtaps=1025)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331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• Áp dụng equalizer trên file .wav, xuất file đã xử lý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8346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• Trực quan hóa waveform &amp; phổ FFT trước/sau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33375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• Phân loại 10 thể loại nhạc: SVM 62.6%, RF 51.6%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3840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• Streamlit Web App: Equalizer + ML classification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1325880"/>
            <a:ext cx="5303520" cy="4389120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0" y="1325880"/>
            <a:ext cx="164592" cy="438912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56832" y="1417320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4D6D"/>
                </a:solidFill>
                <a:latin typeface="Calibri"/>
              </a:rPr>
              <a:t>⚠  Hạn Chế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832" y="18288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• Chưa xử lý realtime (cần PyAudio + threading)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56832" y="23317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• Accuracy ML dưới 70% (dataset nhỏ, overfitting)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56832" y="283464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• Chưa hỗ trợ stereo / multi-channel audio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53796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C8D8"/>
                </a:solidFill>
                <a:latin typeface="Calibr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201168"/>
            <a:ext cx="1645920" cy="256032"/>
          </a:xfrm>
          <a:prstGeom prst="rect">
            <a:avLst/>
          </a:prstGeom>
          <a:solidFill>
            <a:srgbClr val="7B2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201168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07  KẾT LUẬN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Kết Luận &amp; Hướng Phát Triển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5029200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alibri"/>
              </a:rPr>
              <a:t>Tóm Tắt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19072"/>
            <a:ext cx="56692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Nhóm đã xây dựng thành công hệ thống xử lý âm thanh số gồm:
(1) Bộ cân bằng đồ thị FIR 10 bands với cửa sổ Hamming — hoạt động đúng thiết kế.
(2) Phân loại thể loại nhạc (SVM 62.6%) trên GTZAN dataset.
Toàn bộ tích hợp vào Streamlit Web App.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B2FFF"/>
                </a:solidFill>
                <a:latin typeface="Calibri"/>
              </a:rPr>
              <a:t>Hướng Phát Triển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23360"/>
            <a:ext cx="5669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🎙  Realtime processing — PyAudio + threading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98848"/>
            <a:ext cx="5669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🧠  Deep Learning — CNN trên Mel Spectrogram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974336"/>
            <a:ext cx="5669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🌐  Mở rộng Web App — deploy lên cloud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449824"/>
            <a:ext cx="5669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📊  Thêm visualizations: 3D spectrogram, real-time FFT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280160"/>
            <a:ext cx="5303520" cy="4937760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37960" y="137160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  <a:latin typeface="Calibri"/>
              </a:rPr>
              <a:t>Đóng Góp Thành Viên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37960" y="1828800"/>
            <a:ext cx="5029200" cy="868680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56832" y="188366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  <a:latin typeface="Calibri"/>
              </a:rPr>
              <a:t>Nhân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832" y="224028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B0C8D8"/>
                </a:solidFill>
                <a:latin typeface="Calibri"/>
              </a:rPr>
              <a:t>DSP Lead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205740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FIR filter design, band config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37960" y="2788920"/>
            <a:ext cx="5029200" cy="868680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56832" y="284378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  <a:latin typeface="Calibri"/>
              </a:rPr>
              <a:t>Việt Anh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832" y="320040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B0C8D8"/>
                </a:solidFill>
                <a:latin typeface="Calibri"/>
              </a:rPr>
              <a:t>DSP / Visualization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301752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Load audio, plot, output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37960" y="3749040"/>
            <a:ext cx="5029200" cy="868680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656832" y="380390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  <a:latin typeface="Calibri"/>
              </a:rPr>
              <a:t>Bắc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832" y="416052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B0C8D8"/>
                </a:solidFill>
                <a:latin typeface="Calibri"/>
              </a:rPr>
              <a:t>ML Lead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9776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Feature extraction, train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37960" y="4709160"/>
            <a:ext cx="5029200" cy="868680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56832" y="476402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  <a:latin typeface="Calibri"/>
              </a:rPr>
              <a:t>Quang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832" y="512064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B0C8D8"/>
                </a:solidFill>
                <a:latin typeface="Calibri"/>
              </a:rPr>
              <a:t>ML / Báo Cáo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49377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Calibri"/>
              </a:rPr>
              <a:t>Model evaluation, report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9920" y="653796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C8D8"/>
                </a:solidFill>
                <a:latin typeface="Calibr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Tài Liệu Tham Khảo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59536"/>
            <a:ext cx="4572000" cy="36576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1155680" cy="658368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078992"/>
            <a:ext cx="108813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[1]  Proakis &amp; Manolakis, Digital Signal Processing, 4th Ed. Pearson, 2007.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01368"/>
            <a:ext cx="11155680" cy="658368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108813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[2]  Oppenheim &amp; Schafer, Discrete-Time Signal Processing, 3rd Ed. Pearson, 2010.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551176"/>
            <a:ext cx="11155680" cy="658368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578608"/>
            <a:ext cx="108813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[3]  SciPy — scipy.signal.firwin: docs.scipy.org/doc/scipy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300984"/>
            <a:ext cx="11155680" cy="658368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3328416"/>
            <a:ext cx="108813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[4]  Librosa Documentation: librosa.org/doc/latest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050792"/>
            <a:ext cx="11155680" cy="658368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4078224"/>
            <a:ext cx="108813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[5]  Tzanetakis &amp; Cook, 'Musical genre classification of audio signals.'
       IEEE Trans. Speech Audio Process., 2002.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800600"/>
            <a:ext cx="11155680" cy="658368"/>
          </a:xfrm>
          <a:prstGeom prst="rect">
            <a:avLst/>
          </a:prstGeom>
          <a:solidFill>
            <a:srgbClr val="152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4828032"/>
            <a:ext cx="108813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[6]  DSP Course Lecture Notes — FIR Filter Design Lab.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53796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0C8D8"/>
                </a:solidFill>
                <a:latin typeface="Calibri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1216</Words>
  <Application>Microsoft Office PowerPoint</Application>
  <PresentationFormat>Custom</PresentationFormat>
  <Paragraphs>215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KD ᓚᘏᗢ</cp:lastModifiedBy>
  <cp:revision>2</cp:revision>
  <dcterms:created xsi:type="dcterms:W3CDTF">2013-01-27T09:14:16Z</dcterms:created>
  <dcterms:modified xsi:type="dcterms:W3CDTF">2026-03-08T06:45:42Z</dcterms:modified>
  <cp:category/>
</cp:coreProperties>
</file>