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18872"/>
            <a:ext cx="228600" cy="67391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0C8D8"/>
                </a:solidFill>
                <a:latin typeface="Calibri"/>
              </a:rPr>
              <a:t>Digital Signal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9738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 err="1">
                <a:solidFill>
                  <a:srgbClr val="FFFFFF"/>
                </a:solidFill>
                <a:latin typeface="Calibri"/>
              </a:rPr>
              <a:t>Thiết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4000" b="1" i="0" dirty="0" err="1">
                <a:solidFill>
                  <a:srgbClr val="FFFFFF"/>
                </a:solidFill>
                <a:latin typeface="Calibri"/>
              </a:rPr>
              <a:t>Kế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4000" b="1" i="0" dirty="0" err="1">
                <a:solidFill>
                  <a:srgbClr val="FFFFFF"/>
                </a:solidFill>
                <a:latin typeface="Calibri"/>
              </a:rPr>
              <a:t>Bộ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4000" b="1" i="0" dirty="0" err="1">
                <a:solidFill>
                  <a:srgbClr val="FFFFFF"/>
                </a:solidFill>
                <a:latin typeface="Calibri"/>
              </a:rPr>
              <a:t>Cân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4000" b="1" i="0" dirty="0" err="1">
                <a:solidFill>
                  <a:srgbClr val="FFFFFF"/>
                </a:solidFill>
                <a:latin typeface="Calibri"/>
              </a:rPr>
              <a:t>Bằng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4000" b="1" i="0" dirty="0" err="1">
                <a:solidFill>
                  <a:srgbClr val="FFFFFF"/>
                </a:solidFill>
                <a:latin typeface="Calibri"/>
              </a:rPr>
              <a:t>Số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
&amp; </a:t>
            </a:r>
            <a:r>
              <a:rPr sz="4000" b="1" i="0" dirty="0" err="1">
                <a:solidFill>
                  <a:srgbClr val="FFFFFF"/>
                </a:solidFill>
                <a:latin typeface="Calibri"/>
              </a:rPr>
              <a:t>Phân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4000" b="1" i="0" dirty="0" err="1">
                <a:solidFill>
                  <a:srgbClr val="FFFFFF"/>
                </a:solidFill>
                <a:latin typeface="Calibri"/>
              </a:rPr>
              <a:t>Loại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4000" b="1" i="0" dirty="0" err="1">
                <a:solidFill>
                  <a:srgbClr val="FFFFFF"/>
                </a:solidFill>
                <a:latin typeface="Calibri"/>
              </a:rPr>
              <a:t>Dòng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4000" b="1" i="0" dirty="0" err="1">
                <a:solidFill>
                  <a:srgbClr val="FFFFFF"/>
                </a:solidFill>
                <a:latin typeface="Calibri"/>
              </a:rPr>
              <a:t>Nhạc</a:t>
            </a:r>
            <a:endParaRPr sz="4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3429000"/>
            <a:ext cx="6858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566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D4FF"/>
                </a:solidFill>
                <a:latin typeface="Calibri"/>
              </a:rPr>
              <a:t>FIR Graphic Equalizer  ·  10 Bands  ·  Hamming 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77639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 dirty="0">
                <a:solidFill>
                  <a:srgbClr val="B0C8D8"/>
                </a:solidFill>
                <a:latin typeface="Calibri"/>
              </a:rPr>
              <a:t>MFCC + SVM / Random Forest  ·  GTZAN Dataset  ·  10 Genres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8D8"/>
                </a:solidFill>
                <a:latin typeface="Calibr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2743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892040" cy="74980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1247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2161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Giới thiệu &amp; Định hướng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1051560"/>
            <a:ext cx="4892040" cy="74980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96128" y="11247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12161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Cơ sở lý thuyết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4892040" cy="74980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20391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1305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Thiết kế hệ thống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1965960"/>
            <a:ext cx="4892040" cy="74980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96128" y="20391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21305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MFCC &amp; Machine Learning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80360"/>
            <a:ext cx="4892040" cy="74980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29535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0449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Kết quả Equalizer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2880360"/>
            <a:ext cx="4892040" cy="74980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96128" y="29535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30449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Kết quả ML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94760"/>
            <a:ext cx="4892040" cy="74980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38679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9593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Demo &amp; Kết luận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8D8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645920" cy="25603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011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01  GIỚI THIỆU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Lựa Chọn &amp; Định Hướng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4572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303520" cy="22860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Tại sao chọn FIR?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✔  Ổn định vô điều kiện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✔  Pha tuyến tính — không méo sóng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517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✔  Dễ thiết kế &amp; phân tích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✔  Phương pháp cửa sổ Hamming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303520" cy="22860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FFF"/>
                </a:solidFill>
                <a:latin typeface="Calibri"/>
              </a:rPr>
              <a:t>Tại sao Jupyter + Streamlit?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8288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✔  Phù hợp trình bày học thuật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24028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✔  Tích hợp code + kết quả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517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✔  Dễ test &amp; demo trực tiếp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0632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✔  Streamlit: Web App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7490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Chỉ Tiêu Kỹ Thuật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3657600" cy="65836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251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Equalizer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5262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D8"/>
                </a:solidFill>
                <a:latin typeface="Calibri"/>
              </a:rPr>
              <a:t>10 bands · 20 Hz–20 kHz · Gain ±12 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4206240"/>
            <a:ext cx="3657600" cy="65836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07408" y="4251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ML Classification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45262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D8"/>
                </a:solidFill>
                <a:latin typeface="Calibri"/>
              </a:rPr>
              <a:t>10 genres · GTZAN · SVM &amp; Random Forest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4206240"/>
            <a:ext cx="3657600" cy="65836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47888" y="4251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45262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D8"/>
                </a:solidFill>
                <a:latin typeface="Calibri"/>
              </a:rPr>
              <a:t>Python 3.10+ · .wav · File-based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8D8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645920" cy="25603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011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02  LÝ THUYẾT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Tín Hiệu Số &amp; Lấy Mẫu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029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394960" cy="18288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64592" cy="1828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538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Nyquist-Shannon Theorem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56232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f_s ≥ 2 × f_max
Audio: f_s = 44,100 Hz → dải tần 0–22,050 Hz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25880"/>
            <a:ext cx="5394960" cy="18288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1325880"/>
            <a:ext cx="164592" cy="18288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4538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2FFF"/>
                </a:solidFill>
                <a:latin typeface="Calibri"/>
              </a:rPr>
              <a:t>Sampling Period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56232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T_s = 1/f_s ≈ 22.7 μs
resolution 16-bit: [-32768, 32767]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5394960" cy="18288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337560"/>
            <a:ext cx="164592" cy="1828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46557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FIR Difference Equation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67912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y[n] = Σ (k=0→M)  bₖ · x[n−k]
No feedback → unconditionally stable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337560"/>
            <a:ext cx="5394960" cy="18288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0" y="3337560"/>
            <a:ext cx="164592" cy="18288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346557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2FFF"/>
                </a:solidFill>
                <a:latin typeface="Calibri"/>
              </a:rPr>
              <a:t>Hamming Window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67912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w[n] = 0.54 − 0.46·cos(2πn/M)
Reduces side-lobe vs. rectangular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8D8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645920" cy="25603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011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02  LÝ THUYẾT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Bộ Lọc FIR — Thiết Kế 10 Bands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4864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777240" cy="3108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2064" y="131673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Band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298448"/>
            <a:ext cx="2103120" cy="3108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26464" y="13167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Frequency Range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298448"/>
            <a:ext cx="2103120" cy="3108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12464" y="13167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09344"/>
            <a:ext cx="5166360" cy="402336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" y="164592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  <a:latin typeface="Calibri"/>
              </a:rPr>
              <a:t>Band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464" y="16459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20–60 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4" y="16459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Sub-bass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029968"/>
            <a:ext cx="5166360" cy="402336"/>
          </a:xfrm>
          <a:prstGeom prst="rect">
            <a:avLst/>
          </a:prstGeom>
          <a:solidFill>
            <a:srgbClr val="1A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064" y="2066544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  <a:latin typeface="Calibri"/>
              </a:rPr>
              <a:t>Band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6464" y="206654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60–170 Hz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2464" y="206654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450592"/>
            <a:ext cx="5166360" cy="402336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" y="248716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  <a:latin typeface="Calibri"/>
              </a:rPr>
              <a:t>Band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464" y="24871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170–310 Hz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12464" y="24871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Upper Bass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871216"/>
            <a:ext cx="5166360" cy="402336"/>
          </a:xfrm>
          <a:prstGeom prst="rect">
            <a:avLst/>
          </a:prstGeom>
          <a:solidFill>
            <a:srgbClr val="1A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" y="290779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  <a:latin typeface="Calibri"/>
              </a:rPr>
              <a:t>Band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6464" y="29077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310–600 Hz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12464" y="29077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Midrange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91840"/>
            <a:ext cx="5166360" cy="402336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" y="3328416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  <a:latin typeface="Calibri"/>
              </a:rPr>
              <a:t>Band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6464" y="332841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600–1,000 Hz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12464" y="332841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712464"/>
            <a:ext cx="5166360" cy="402336"/>
          </a:xfrm>
          <a:prstGeom prst="rect">
            <a:avLst/>
          </a:prstGeom>
          <a:solidFill>
            <a:srgbClr val="1A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2064" y="374904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  <a:latin typeface="Calibri"/>
              </a:rPr>
              <a:t>Band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26464" y="37490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1,000–3,000 Hz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12464" y="37490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Upper Mid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133088"/>
            <a:ext cx="5166360" cy="402336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2064" y="4169664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  <a:latin typeface="Calibri"/>
              </a:rPr>
              <a:t>Band 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26464" y="41696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3,000–6,000 Hz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12464" y="41696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Presence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553712"/>
            <a:ext cx="5166360" cy="402336"/>
          </a:xfrm>
          <a:prstGeom prst="rect">
            <a:avLst/>
          </a:prstGeom>
          <a:solidFill>
            <a:srgbClr val="1A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2064" y="459028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  <a:latin typeface="Calibri"/>
              </a:rPr>
              <a:t>Band 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26464" y="459028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6,000–12,000 Hz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12464" y="459028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Brilliance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974336"/>
            <a:ext cx="5166360" cy="402336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2064" y="501091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  <a:latin typeface="Calibri"/>
              </a:rPr>
              <a:t>Band 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26464" y="50109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12,000–16,000 Hz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12464" y="50109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Air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394960"/>
            <a:ext cx="5166360" cy="402336"/>
          </a:xfrm>
          <a:prstGeom prst="rect">
            <a:avLst/>
          </a:prstGeom>
          <a:solidFill>
            <a:srgbClr val="1A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12064" y="5431536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  <a:latin typeface="Calibri"/>
              </a:rPr>
              <a:t>Band 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26464" y="54315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16,000–20,000 Hz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12464" y="54315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Ultra High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1280160"/>
            <a:ext cx="5303520" cy="32004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37960" y="13716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Tại sao numtaps = 1025?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37960" y="18105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•  Số tap lẻ → Type I Linear Phase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37960" y="22677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•  Nhiều tap → dải chuyển tiếp hẹp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37960" y="27249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•  Trễ = N/2 = 512 mẫu ≈ 11.6 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37960" y="31821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•  Cửa sổ Hamming: attenuation ~53 dB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4663440"/>
            <a:ext cx="5303520" cy="137160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37960" y="47548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676"/>
                </a:solidFill>
                <a:latin typeface="Calibri"/>
              </a:rPr>
              <a:t>scipy.signal.firwin(1025, [60, 170],
  pass_zero=False,
  window='hamming', fs=44100)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8D8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645920" cy="25603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011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03  THIẾT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Sơ Đồ Hệ Thống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6576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Equalizer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1554480" cy="7315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Load
.wav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19202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04288" y="1737360"/>
            <a:ext cx="1554480" cy="7315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04288" y="17373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Filter Bank
(10 FIR)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7056" y="19202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51376" y="1737360"/>
            <a:ext cx="1554480" cy="7315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51376" y="17373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Apply Gain
(±12 dB)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24144" y="19202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98464" y="1737360"/>
            <a:ext cx="1554480" cy="7315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98464" y="17373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Sum
Bands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2" y="19202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45552" y="1737360"/>
            <a:ext cx="1554480" cy="7315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45552" y="17373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Visualize
FFT/Wave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19202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1737360"/>
            <a:ext cx="1554480" cy="7315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92640" y="17373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Save
.wav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8346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FFF"/>
                </a:solidFill>
                <a:latin typeface="Calibri"/>
              </a:rPr>
              <a:t>ML Pipeline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46120"/>
            <a:ext cx="1920240" cy="7315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246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Load
GTZAN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95728" y="342900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2FFF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70048" y="3246120"/>
            <a:ext cx="1920240" cy="7315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70048" y="3246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Extract
MFCC×40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8576" y="342900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2FFF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82896" y="3246120"/>
            <a:ext cx="1920240" cy="7315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82896" y="3246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StandardScaler
Normalize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21424" y="342900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2FFF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95744" y="3246120"/>
            <a:ext cx="1920240" cy="7315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95744" y="3246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Train
SVM/RF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34272" y="342900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2FFF"/>
                </a:solidFill>
                <a:latin typeface="Calibri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08592" y="3246120"/>
            <a:ext cx="1920240" cy="7315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08592" y="3246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Evaluate
Accuracy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Phương Pháp Test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663440"/>
            <a:ext cx="5394960" cy="173736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4360" y="47365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Equalizer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12064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Sine đơn tần (per band)
• White noise (all bands)
• File nhạc thực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4663440"/>
            <a:ext cx="5394960" cy="173736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63640" y="47365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FFF"/>
                </a:solidFill>
                <a:latin typeface="Calibri"/>
              </a:rPr>
              <a:t>ML Model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512064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Tập test riêng biệt
• Accuracy/Precision/F1
• Confusion Matrix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8D8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645920" cy="25603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011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04 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MFCC · SVM · Random Forest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3035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280160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D1B2A"/>
                </a:solidFill>
                <a:latin typeface="Calibri"/>
              </a:rPr>
              <a:t>Audio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2496" y="16002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1417320"/>
            <a:ext cx="1280160" cy="6858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11680" y="141732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FFT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8416" y="16002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417320"/>
            <a:ext cx="1280160" cy="6858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141732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Mel
Filterbank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4336" y="16002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1417320"/>
            <a:ext cx="1280160" cy="6858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0" y="141732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log + DCT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0256" y="16002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1417320"/>
            <a:ext cx="1280160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0" y="141732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D1B2A"/>
                </a:solidFill>
                <a:latin typeface="Calibri"/>
              </a:rPr>
              <a:t>MFCC
(20 coeff)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16002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1417320"/>
            <a:ext cx="1280160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0" y="141732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D1B2A"/>
                </a:solidFill>
                <a:latin typeface="Calibri"/>
              </a:rPr>
              <a:t>Mean+Std
→ 40 feat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12096" y="16002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1280" y="1417320"/>
            <a:ext cx="1280160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41280" y="141732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D1B2A"/>
                </a:solidFill>
                <a:latin typeface="Calibri"/>
              </a:rPr>
              <a:t>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423160"/>
            <a:ext cx="3657600" cy="25603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2423160"/>
            <a:ext cx="36576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254203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MFCC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9718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20 coefficients per frame
mean + std → 40-dim vector
Mimics human hearing (Mel scale)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2423160"/>
            <a:ext cx="3657600" cy="25603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97680" y="2423160"/>
            <a:ext cx="3657600" cy="914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07408" y="254203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2FFF"/>
                </a:solidFill>
                <a:latin typeface="Calibri"/>
              </a:rPr>
              <a:t>SVM — Kernel RBF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8" y="29718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K(x,x') = exp(−γ||x−x'||²)
Max-margin hyperplane
Accuracy: 62.6%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2423160"/>
            <a:ext cx="3657600" cy="25603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38160" y="2423160"/>
            <a:ext cx="3657600" cy="914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47888" y="254203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96"/>
                </a:solidFill>
                <a:latin typeface="Calibri"/>
              </a:rPr>
              <a:t>Random Forest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7888" y="29718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Ensemble of Decision Trees
Majority voting → low overfitting
Accuracy: 51.6%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C8D8"/>
                </a:solidFill>
                <a:latin typeface="Calibri"/>
              </a:rPr>
              <a:t>Pipeline:  Audio  →  Feature Extraction  →  StandardScaler  →  Model  →  Prediction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8D8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645920" cy="25603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011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05  KẾT QUẢ EQ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Kết Quả Equalizer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4114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requency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5577840" cy="2743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4096512"/>
            <a:ext cx="5577840" cy="347472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FF"/>
                </a:solidFill>
                <a:latin typeface="Calibri"/>
              </a:rPr>
              <a:t>Hình 1: Frequency Response — 10 FIR Bands</a:t>
            </a:r>
          </a:p>
        </p:txBody>
      </p:sp>
      <p:pic>
        <p:nvPicPr>
          <p:cNvPr id="10" name="Picture 9" descr="waveform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5577840" cy="2743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172200" y="4096512"/>
            <a:ext cx="5577840" cy="347472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41148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FF"/>
                </a:solidFill>
                <a:latin typeface="Calibri"/>
              </a:rPr>
              <a:t>Hình 2: Waveform — Trước &amp; Sau Equalizer</a:t>
            </a:r>
          </a:p>
        </p:txBody>
      </p:sp>
      <p:pic>
        <p:nvPicPr>
          <p:cNvPr id="13" name="Picture 12" descr="spectrum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526280"/>
            <a:ext cx="5577840" cy="18288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65760" y="6382512"/>
            <a:ext cx="5577840" cy="347472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B2FFF"/>
                </a:solidFill>
                <a:latin typeface="Calibri"/>
              </a:rPr>
              <a:t>Hình 3: Phổ FFT — Trước &amp; Sau Equalizer</a:t>
            </a:r>
          </a:p>
        </p:txBody>
      </p:sp>
      <p:pic>
        <p:nvPicPr>
          <p:cNvPr id="16" name="Picture 15" descr="band_energ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4526280"/>
            <a:ext cx="5577840" cy="18288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172200" y="6382512"/>
            <a:ext cx="5577840" cy="347472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64008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B2FFF"/>
                </a:solidFill>
                <a:latin typeface="Calibri"/>
              </a:rPr>
              <a:t>Hình 4: Band Energy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8D8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645920" cy="25603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011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06  KẾT QUẢ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Kết Quả Machine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029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98448"/>
            <a:ext cx="5577840" cy="2743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4069080"/>
            <a:ext cx="5577840" cy="310896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08736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FF"/>
                </a:solidFill>
                <a:latin typeface="Calibri"/>
              </a:rPr>
              <a:t>Hình 5: Confusion Matrix</a:t>
            </a:r>
          </a:p>
        </p:txBody>
      </p:sp>
      <p:pic>
        <p:nvPicPr>
          <p:cNvPr id="10" name="Picture 9" descr="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462272"/>
            <a:ext cx="5577840" cy="20116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65760" y="6492240"/>
            <a:ext cx="5577840" cy="310896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B2FFF"/>
                </a:solidFill>
                <a:latin typeface="Calibri"/>
              </a:rPr>
              <a:t>Hình 6: Model Comparison — SVM 62.6%  vs  RF 51.6%</a:t>
            </a:r>
          </a:p>
        </p:txBody>
      </p:sp>
      <p:pic>
        <p:nvPicPr>
          <p:cNvPr id="13" name="Picture 12" descr="feature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98448"/>
            <a:ext cx="5577840" cy="27432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17920" y="4069080"/>
            <a:ext cx="5577840" cy="310896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408736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FF"/>
                </a:solidFill>
                <a:latin typeface="Calibri"/>
              </a:rPr>
              <a:t>Hình 7: Feature Importance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462272"/>
            <a:ext cx="5577840" cy="23317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45354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Biện Luận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93776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E676"/>
                </a:solidFill>
                <a:latin typeface="Calibri"/>
              </a:rPr>
              <a:t>• SVM &gt; RF với MFCC feature vector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36752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D8"/>
                </a:solidFill>
                <a:latin typeface="Calibri"/>
              </a:rPr>
              <a:t>• Country / Rock — nhịp điệu tương đồng → nhầm lẫn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5797296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8D8"/>
                </a:solidFill>
                <a:latin typeface="Calibri"/>
              </a:rPr>
              <a:t>• GTZAN ~1000 clips → overfitting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6227064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4D6D"/>
                </a:solidFill>
                <a:latin typeface="Calibri"/>
              </a:rPr>
              <a:t>• Cải thiện: CNN trên Mel Spectrogram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8D8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645920" cy="25603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011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06  KẾT QUẢ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ML — Phân Tích Bổ Sung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4572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el_spectr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98448"/>
            <a:ext cx="3749039" cy="4206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5532120"/>
            <a:ext cx="3749039" cy="54864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57784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FF"/>
                </a:solidFill>
                <a:latin typeface="Calibri"/>
              </a:rPr>
              <a:t>Hình 8: Mel Spectrograms by Genre</a:t>
            </a:r>
          </a:p>
        </p:txBody>
      </p:sp>
      <p:pic>
        <p:nvPicPr>
          <p:cNvPr id="10" name="Picture 9" descr="data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399" y="1298448"/>
            <a:ext cx="3749039" cy="42062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343399" y="5532120"/>
            <a:ext cx="3749039" cy="54864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39" y="557784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B2FFF"/>
                </a:solidFill>
                <a:latin typeface="Calibri"/>
              </a:rPr>
              <a:t>Hình 9: Dataset Distribution</a:t>
            </a:r>
          </a:p>
        </p:txBody>
      </p:sp>
      <p:pic>
        <p:nvPicPr>
          <p:cNvPr id="13" name="Picture 12" descr="prediction_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38" y="1298448"/>
            <a:ext cx="3749039" cy="42062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321038" y="5532120"/>
            <a:ext cx="3749039" cy="54864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8" y="557784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E676"/>
                </a:solidFill>
                <a:latin typeface="Calibri"/>
              </a:rPr>
              <a:t>Hình 10: Sample Prediction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8D8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645920" cy="25603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011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07  ĐÁNH GIÁ - HẠN CHẾ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Đánh Giá &amp; Hạn Chế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4114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486400" cy="43891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64592" cy="43891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417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676"/>
                </a:solidFill>
                <a:latin typeface="Calibri"/>
              </a:rPr>
              <a:t>✅  Đạt Được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Thiết kế thành công bộ FIR 10-band (Hamming, numtaps=1025)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31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Áp dụng equalizer trên file .wav, xuất file đã xử lý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834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Trực quan hóa waveform &amp; phổ FFT trước/sau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337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Phân loại 10 thể loại nhạc: SVM 62.6%, RF 51.6%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Streamlit Web App: Equalizer + ML classification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325880"/>
            <a:ext cx="5303520" cy="43891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1325880"/>
            <a:ext cx="164592" cy="438912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56832" y="14173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6D"/>
                </a:solidFill>
                <a:latin typeface="Calibri"/>
              </a:rPr>
              <a:t>⚠  Hạn Chế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Chưa xử lý realtime (cần PyAudio + threading)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2331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Accuracy ML dưới 70% (dataset nhỏ, overfitting)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2834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Chưa hỗ trợ stereo / multi-channel audio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8D8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1645920" cy="25603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011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07  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Kết Luận &amp; Hướng Phát Triển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029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Tóm Tắt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5669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Nhóm đã xây dựng thành công hệ thống xử lý âm thanh số gồm:
(1) Bộ cân bằng đồ thị FIR 10 bands với cửa sổ Hamming — hoạt động đúng thiết kế.
(2) Phân loại thể loại nhạc (SVM 62.6%) trên GTZAN dataset.
Toàn bộ tích hợp vào Streamlit Web App.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FFF"/>
                </a:solidFill>
                <a:latin typeface="Calibri"/>
              </a:rPr>
              <a:t>Hướng Phát Triển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🎙  Realtime processing — PyAudio + threading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9884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🧠  Deep Learning — CNN trên Mel Spectrogram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74336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🌐  Mở rộng Web App — deploy lên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49824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📊  Thêm visualizations: 3D spectrogram, real-time FFT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280160"/>
            <a:ext cx="5303520" cy="493776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1371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Đóng Góp Thành Viên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1828800"/>
            <a:ext cx="5029200" cy="86868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56832" y="18836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Nhân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22402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8D8"/>
                </a:solidFill>
                <a:latin typeface="Calibri"/>
              </a:rPr>
              <a:t>DSP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057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FIR filter design, band config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2788920"/>
            <a:ext cx="5029200" cy="86868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56832" y="28437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Việt Anh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32004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8D8"/>
                </a:solidFill>
                <a:latin typeface="Calibri"/>
              </a:rPr>
              <a:t>DSP / Visualization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Load audio, plot, output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3749040"/>
            <a:ext cx="5029200" cy="86868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56832" y="38039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Bắc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2" y="41605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8D8"/>
                </a:solidFill>
                <a:latin typeface="Calibri"/>
              </a:rPr>
              <a:t>ML Lead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977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Feature extraction, train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4709160"/>
            <a:ext cx="5029200" cy="86868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56832" y="47640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Quang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51206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8D8"/>
                </a:solidFill>
                <a:latin typeface="Calibri"/>
              </a:rPr>
              <a:t>ML / Báo Cáo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9377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Model evaluation,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8D8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Tài Liệu Tham Khảo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59536"/>
            <a:ext cx="4572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155680" cy="65836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[1]  Proakis &amp; Manolakis, Digital Signal Processing, 4th Ed. Pearson, 2007.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01368"/>
            <a:ext cx="11155680" cy="65836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[2]  Oppenheim &amp; Schafer, Discrete-Time Signal Processing, 3rd Ed. Pearson, 2010.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51176"/>
            <a:ext cx="11155680" cy="65836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578608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[3]  SciPy — scipy.signal.firwin: docs.scipy.org/doc/scipy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00984"/>
            <a:ext cx="11155680" cy="65836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328416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[4]  Librosa Documentation: librosa.org/doc/latest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50792"/>
            <a:ext cx="11155680" cy="65836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078224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[5]  Tzanetakis &amp; Cook, 'Musical genre classification of audio signals.'
       IEEE Trans. Speech Audio Process., 2002.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00600"/>
            <a:ext cx="11155680" cy="65836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828032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[6]  DSP Course Lecture Notes — FIR Filter Design Lab.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8D8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1216</Words>
  <Application>Microsoft Office PowerPoint</Application>
  <PresentationFormat>Custom</PresentationFormat>
  <Paragraphs>215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KD ᓚᘏᗢ</cp:lastModifiedBy>
  <cp:revision>3</cp:revision>
  <dcterms:created xsi:type="dcterms:W3CDTF">2013-01-27T09:14:16Z</dcterms:created>
  <dcterms:modified xsi:type="dcterms:W3CDTF">2026-03-08T06:54:10Z</dcterms:modified>
  <cp:category/>
</cp:coreProperties>
</file>